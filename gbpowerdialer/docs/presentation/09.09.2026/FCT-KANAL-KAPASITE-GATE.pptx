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theme" Target="theme/theme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600"/>
      </a:lvl1pPr>
    </p:titleStyle>
    <p:bodyStyle>
      <a:lvl1pPr>
        <a:defRPr sz="1400"/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2C4A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Shape 4"/>
          <p:cNvSpPr/>
          <p:nvPr/>
        </p:nvSpPr>
        <p:spPr>
          <a:xfrm>
            <a:off x="822960" y="1417320"/>
            <a:ext cx="1554480" cy="50292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5" name="TextBox 5"/>
          <p:cNvSpPr txBox="1"/>
          <p:nvPr/>
        </p:nvSpPr>
        <p:spPr>
          <a:xfrm>
            <a:off x="822960" y="9601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200" b="1" i="0" dirty="0">
                <a:solidFill>
                  <a:srgbClr val="8FB8E6"/>
                </a:solidFill>
                <a:latin typeface="Segoe UI"/>
                <a:cs typeface="Segoe UI"/>
              </a:rPr>
              <a:t>GBPOWERDIALER  ·  FCT ROUTING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2960" y="178308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tr-TR" sz="4400" b="1" i="0" dirty="0">
                <a:solidFill>
                  <a:srgbClr val="FFFFFF"/>
                </a:solidFill>
                <a:latin typeface="Segoe UI"/>
                <a:cs typeface="Segoe UI"/>
              </a:rPr>
              <a:t>FCT Kanal Kapasite Gate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2960" y="3246120"/>
            <a:ext cx="9326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700" b="0" i="0" dirty="0">
                <a:solidFill>
                  <a:srgbClr val="C9DCF2"/>
                </a:solidFill>
                <a:latin typeface="Segoe UI"/>
                <a:cs typeface="Segoe UI"/>
              </a:rPr>
              <a:t>FCT basina es zamanli kanal limitini PowerDialer'da sayan, dolu FCT'ye hic gitmeyen admission control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2960" y="4343400"/>
            <a:ext cx="93268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500"/>
              </a:spcBef>
              <a:buNone/>
            </a:pPr>
            <a:r>
              <a:rPr lang="tr-TR" sz="1200" b="0" i="0" dirty="0">
                <a:solidFill>
                  <a:srgbClr val="9FB6D0"/>
                </a:solidFill>
                <a:latin typeface="Segoe UI"/>
                <a:cs typeface="Segoe UI"/>
              </a:rPr>
              <a:t>Branch: feature/GLB90114534-fct-kanal-kapasite-gate   ·   Commit: 5cfa5bfd</a:t>
            </a:r>
          </a:p>
          <a:p>
            <a:pPr algn="l">
              <a:spcBef>
                <a:spcPts val="500"/>
              </a:spcBef>
              <a:buNone/>
            </a:pPr>
            <a:r>
              <a:rPr lang="tr-TR" sz="1200" b="0" i="0" dirty="0">
                <a:solidFill>
                  <a:srgbClr val="9FB6D0"/>
                </a:solidFill>
                <a:latin typeface="Segoe UI"/>
                <a:cs typeface="Segoe UI"/>
              </a:rPr>
              <a:t>Kapsam: FctChannelRegistry · FctChannelGate · RouteDetailsFilter · FCT Channel Monitor</a:t>
            </a:r>
          </a:p>
          <a:p>
            <a:pPr algn="l">
              <a:spcBef>
                <a:spcPts val="500"/>
              </a:spcBef>
              <a:buNone/>
            </a:pPr>
            <a:r>
              <a:rPr lang="tr-TR" sz="1200" b="0" i="0" dirty="0">
                <a:solidFill>
                  <a:srgbClr val="9FB6D0"/>
                </a:solidFill>
                <a:latin typeface="Segoe UI"/>
                <a:cs typeface="Segoe UI"/>
              </a:rPr>
              <a:t>Hazirlayan: GLB90114534   ·   09.09.2026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6600" b="1" i="0" dirty="0">
                <a:solidFill>
                  <a:srgbClr val="D4DEE8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31720" y="2606040"/>
            <a:ext cx="8595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3200" b="1" i="0" dirty="0">
                <a:solidFill>
                  <a:srgbClr val="1F2933"/>
                </a:solidFill>
                <a:latin typeface="Segoe UI"/>
                <a:cs typeface="Segoe UI"/>
              </a:rPr>
              <a:t>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77440" y="342900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00" b="0" i="0" dirty="0">
                <a:solidFill>
                  <a:srgbClr val="6B7A8F"/>
                </a:solidFill>
                <a:latin typeface="Segoe UI"/>
                <a:cs typeface="Segoe UI"/>
              </a:rPr>
              <a:t>Bugun FCT kapasitesini kimse saymiyor; dolulugu ancak hatadan ogreniyoruz.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Bugunku davranis: dolulugu hatadan ogreniyoruz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7" name="Shape 7"/>
          <p:cNvSpPr/>
          <p:nvPr/>
        </p:nvSpPr>
        <p:spPr>
          <a:xfrm>
            <a:off x="566928" y="1655064"/>
            <a:ext cx="2551176" cy="14173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768096" y="187452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lang="tr-TR" sz="2800" b="1" i="0" dirty="0">
                <a:solidFill>
                  <a:srgbClr val="B02A1F"/>
                </a:solidFill>
                <a:latin typeface="Segoe UI"/>
                <a:cs typeface="Segoe UI"/>
              </a:rPr>
              <a:t>34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1520" y="2523744"/>
            <a:ext cx="2221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Asterisk hangup cause
No circuit / channel available</a:t>
            </a:r>
          </a:p>
        </p:txBody>
      </p:sp>
      <p:sp>
        <p:nvSpPr>
          <p:cNvPr id="10" name="Shape 10"/>
          <p:cNvSpPr/>
          <p:nvPr/>
        </p:nvSpPr>
        <p:spPr>
          <a:xfrm>
            <a:off x="3355848" y="1655064"/>
            <a:ext cx="2551176" cy="14173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3557016" y="187452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lang="tr-TR" sz="2800" b="1" i="0" dirty="0">
                <a:solidFill>
                  <a:srgbClr val="B02A1F"/>
                </a:solidFill>
                <a:latin typeface="Segoe UI"/>
                <a:cs typeface="Segoe UI"/>
              </a:rPr>
              <a:t>TRC 25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20440" y="2523744"/>
            <a:ext cx="2221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Dialer sonuc kodu
Congestion</a:t>
            </a:r>
          </a:p>
        </p:txBody>
      </p:sp>
      <p:sp>
        <p:nvSpPr>
          <p:cNvPr id="13" name="Shape 13"/>
          <p:cNvSpPr/>
          <p:nvPr/>
        </p:nvSpPr>
        <p:spPr>
          <a:xfrm>
            <a:off x="6144768" y="1655064"/>
            <a:ext cx="2551176" cy="14173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6345936" y="187452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lang="tr-TR" sz="2800" b="1" i="0" dirty="0">
                <a:solidFill>
                  <a:srgbClr val="B45309"/>
                </a:solidFill>
                <a:latin typeface="Segoe UI"/>
                <a:cs typeface="Segoe UI"/>
              </a:rPr>
              <a:t>TRC 79 / 907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09360" y="2523744"/>
            <a:ext cx="2221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Originate action error
ring timeout artisi sonrasi</a:t>
            </a:r>
          </a:p>
        </p:txBody>
      </p:sp>
      <p:sp>
        <p:nvSpPr>
          <p:cNvPr id="16" name="Shape 16"/>
          <p:cNvSpPr/>
          <p:nvPr/>
        </p:nvSpPr>
        <p:spPr>
          <a:xfrm>
            <a:off x="8933688" y="1655064"/>
            <a:ext cx="2551176" cy="14173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9134856" y="187452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lang="tr-TR" sz="2800" b="1" i="0" dirty="0">
                <a:solidFill>
                  <a:srgbClr val="B45309"/>
                </a:solidFill>
                <a:latin typeface="Segoe UI"/>
                <a:cs typeface="Segoe UI"/>
              </a:rPr>
              <a:t>~%17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98280" y="2523744"/>
            <a:ext cx="2221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Trunk zamaninin bosa giden
payi (uretim log analizi)</a:t>
            </a:r>
          </a:p>
        </p:txBody>
      </p:sp>
      <p:sp>
        <p:nvSpPr>
          <p:cNvPr id="19" name="Shape 19"/>
          <p:cNvSpPr/>
          <p:nvPr/>
        </p:nvSpPr>
        <p:spPr>
          <a:xfrm>
            <a:off x="603504" y="3483864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0" name="TextBox 20"/>
          <p:cNvSpPr txBox="1"/>
          <p:nvPr/>
        </p:nvSpPr>
        <p:spPr>
          <a:xfrm>
            <a:off x="896112" y="3392424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450" b="1" i="0" dirty="0">
                <a:solidFill>
                  <a:srgbClr val="1F2933"/>
                </a:solidFill>
                <a:latin typeface="Segoe UI"/>
                <a:cs typeface="Segoe UI"/>
              </a:rPr>
              <a:t>FCT'ler Asterisk tarafinda yonetiliyor; PowerDialer FCT basina kac kanal oldugunu bilmiyor.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4128" y="3776472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0" i="0" dirty="0">
                <a:solidFill>
                  <a:srgbClr val="6B7A8F"/>
                </a:solidFill>
                <a:latin typeface="Segoe UI"/>
                <a:cs typeface="Segoe UI"/>
              </a:rPr>
              <a:t>– Kapasitesi dolmus bir FCT'ye originate atiliyor, cause 34 ile geri donuyor.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4128" y="4105656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0" i="0" dirty="0">
                <a:solidFill>
                  <a:srgbClr val="6B7A8F"/>
                </a:solidFill>
                <a:latin typeface="Segoe UI"/>
                <a:cs typeface="Segoe UI"/>
              </a:rPr>
              <a:t>– Cagri kanal-zamani harcaniyor ama hicbir zaman baglanmiyor: kesin maliyet, sifir fayda.</a:t>
            </a:r>
          </a:p>
        </p:txBody>
      </p:sp>
      <p:sp>
        <p:nvSpPr>
          <p:cNvPr id="23" name="Shape 23"/>
          <p:cNvSpPr/>
          <p:nvPr/>
        </p:nvSpPr>
        <p:spPr>
          <a:xfrm>
            <a:off x="603504" y="4526280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4" name="TextBox 24"/>
          <p:cNvSpPr txBox="1"/>
          <p:nvPr/>
        </p:nvSpPr>
        <p:spPr>
          <a:xfrm>
            <a:off x="896112" y="443484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450" b="1" i="0" dirty="0">
                <a:solidFill>
                  <a:srgbClr val="1F2933"/>
                </a:solidFill>
                <a:latin typeface="Segoe UI"/>
                <a:cs typeface="Segoe UI"/>
              </a:rPr>
              <a:t>Sonuc: dolu FCT'yi ancak deneyip basarisiz olduktan sonra ogreniyoruz.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4128" y="4818888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0" i="0" dirty="0">
                <a:solidFill>
                  <a:srgbClr val="6B7A8F"/>
                </a:solidFill>
                <a:latin typeface="Segoe UI"/>
                <a:cs typeface="Segoe UI"/>
              </a:rPr>
              <a:t>– Reaktif dongu: dene -&gt; cause 34 -&gt; tekrar dene. Kaynak tuketimi sabit, basari orani dusuk.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Kaynak: docs/analyse/07.08.2026 ve 08.09.2026 uretim log analizleri (dl-e9e937bb: 290.308 congestion / 361.253 originate).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6600" b="1" i="0" dirty="0">
                <a:solidFill>
                  <a:srgbClr val="D4DEE8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31720" y="2606040"/>
            <a:ext cx="8595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3200" b="1" i="0" dirty="0">
                <a:solidFill>
                  <a:srgbClr val="1F2933"/>
                </a:solidFill>
                <a:latin typeface="Segoe UI"/>
                <a:cs typeface="Segoe UI"/>
              </a:rPr>
              <a:t>Cozum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77440" y="342900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00" b="0" i="0" dirty="0">
                <a:solidFill>
                  <a:srgbClr val="6B7A8F"/>
                </a:solidFill>
                <a:latin typeface="Segoe UI"/>
                <a:cs typeface="Segoe UI"/>
              </a:rPr>
              <a:t>Kapasite tanimi QSS'te, sayim dialer'da. Dolu FCT'ye hic gitme.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COZUM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Sorumluluk ayrimi: tanim QSS'te, sayim dialer'da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7" name="Shape 7"/>
          <p:cNvSpPr/>
          <p:nvPr/>
        </p:nvSpPr>
        <p:spPr>
          <a:xfrm>
            <a:off x="566928" y="1655064"/>
            <a:ext cx="5321808" cy="41605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Shape 8"/>
          <p:cNvSpPr/>
          <p:nvPr/>
        </p:nvSpPr>
        <p:spPr>
          <a:xfrm>
            <a:off x="566928" y="1655064"/>
            <a:ext cx="5321808" cy="50292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822960" y="1892808"/>
            <a:ext cx="4809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600" b="1" i="0" dirty="0">
                <a:solidFill>
                  <a:srgbClr val="1B6AC9"/>
                </a:solidFill>
                <a:latin typeface="Segoe UI"/>
                <a:cs typeface="Segoe UI"/>
              </a:rPr>
              <a:t>QSS — kapasiteyi TANIMLAR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2960" y="2368296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getRouteDetails yaniti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2960" y="2734056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RouteDetailEntry.capacity (field 4)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2960" y="3063240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qss_route.capacity NULL ise 0 doner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2960" y="3392424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QSS limiti UYGULAMAZ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2960" y="3758184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Cagri yapildi mi, cevap ne oldu bilmez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2960" y="4087368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Bu yuzden sayim QSS'te olamaz</a:t>
            </a:r>
          </a:p>
        </p:txBody>
      </p:sp>
      <p:sp>
        <p:nvSpPr>
          <p:cNvPr id="16" name="Shape 16"/>
          <p:cNvSpPr/>
          <p:nvPr/>
        </p:nvSpPr>
        <p:spPr>
          <a:xfrm>
            <a:off x="6163056" y="1655064"/>
            <a:ext cx="5321808" cy="41605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7" name="Shape 17"/>
          <p:cNvSpPr/>
          <p:nvPr/>
        </p:nvSpPr>
        <p:spPr>
          <a:xfrm>
            <a:off x="6163056" y="1655064"/>
            <a:ext cx="5321808" cy="50292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6419088" y="1892808"/>
            <a:ext cx="4809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600" b="1" i="0" dirty="0">
                <a:solidFill>
                  <a:srgbClr val="0F9D8E"/>
                </a:solidFill>
                <a:latin typeface="Segoe UI"/>
                <a:cs typeface="Segoe UI"/>
              </a:rPr>
              <a:t>PowerDialer — kapasiteyi SAYAR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19088" y="2368296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Cagri yasam dongusunun sahibi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19088" y="2734056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Originate ne zaman atildi bilir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19088" y="3063240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Hangup / expire / hata ne zaman oldu bilir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19088" y="3392424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FctChannelRegistry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9088" y="3758184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Numara basina in-flight callId seti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19088" y="4087368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Rezervasyon = originate, birakma = hangup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Temel kural: bir numara = bir FCT. Kapasite anahtari dogrudan phoneNumber'dir; ayri bir FCT kimligi tutulmaz.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MIMARI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Dort bilesen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7" name="Shape 7"/>
          <p:cNvSpPr/>
          <p:nvPr/>
        </p:nvSpPr>
        <p:spPr>
          <a:xfrm>
            <a:off x="603504" y="1746504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896112" y="1655064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FctChannelRegistry — tek @Component, uygulama geneli durum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4128" y="2084832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Numara -&gt; in-flight callId seti, cooldown, bounded olay log'u, 5 dakikalik KPI penceresi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4128" y="2459736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Rezervasyon SET'tir, sayac degildir: sayisal drift yapisal olarak olusamaz</a:t>
            </a:r>
          </a:p>
        </p:txBody>
      </p:sp>
      <p:sp>
        <p:nvSpPr>
          <p:cNvPr id="11" name="Shape 11"/>
          <p:cNvSpPr/>
          <p:nvPr/>
        </p:nvSpPr>
        <p:spPr>
          <a:xfrm>
            <a:off x="603504" y="2926080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896112" y="283464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FctChannelGate — cagri akisi ile registry arasindaki TEK karar noktasi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4128" y="3264408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reserveForOrigination · reserveNextAfterNoCircuit · release · isListRetryAllowed</a:t>
            </a:r>
          </a:p>
        </p:txBody>
      </p:sp>
      <p:sp>
        <p:nvSpPr>
          <p:cNvPr id="14" name="Shape 14"/>
          <p:cNvSpPr/>
          <p:nvPr/>
        </p:nvSpPr>
        <p:spPr>
          <a:xfrm>
            <a:off x="603504" y="3730752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896112" y="3639312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RouteDetailsFilter — QSS listesini cagri tipine ve deneme sayisina gore suzer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4128" y="4069080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Eski obtainCallerId yolunda QSS'e giden CT_PD_* / AT_* context'ini tuketen tarafta telafi eder</a:t>
            </a:r>
          </a:p>
        </p:txBody>
      </p:sp>
      <p:sp>
        <p:nvSpPr>
          <p:cNvPr id="17" name="Shape 17"/>
          <p:cNvSpPr/>
          <p:nvPr/>
        </p:nvSpPr>
        <p:spPr>
          <a:xfrm>
            <a:off x="603504" y="4535424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896112" y="4443984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FCT Channel Monitor — Options menusu altinda canli izleme ekrani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4128" y="4873752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GET /fctChannel/snapshot · 1 sn cache · DialerAdministration yetkisi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Kalip olarak AgentDialLockRegistry'nin kapasitesi N olan halidir; yeni bir esyapi getirmez.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6600" b="1" i="0" dirty="0">
                <a:solidFill>
                  <a:srgbClr val="D4DEE8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31720" y="2606040"/>
            <a:ext cx="8595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3200" b="1" i="0" dirty="0">
                <a:solidFill>
                  <a:srgbClr val="1F2933"/>
                </a:solidFill>
                <a:latin typeface="Segoe UI"/>
                <a:cs typeface="Segoe UI"/>
              </a:rPr>
              <a:t>Ana akis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77440" y="342900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00" b="0" i="0" dirty="0">
                <a:solidFill>
                  <a:srgbClr val="6B7A8F"/>
                </a:solidFill>
                <a:latin typeface="Segoe UI"/>
                <a:cs typeface="Segoe UI"/>
              </a:rPr>
              <a:t>Originate'e en yakin noktada rezervasyon, dolu ise cagriyi yakmadan oteleme.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AKIS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Originate akisi: adim adim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7" name="Shape 7"/>
          <p:cNvSpPr/>
          <p:nvPr/>
        </p:nvSpPr>
        <p:spPr>
          <a:xfrm>
            <a:off x="566928" y="1655064"/>
            <a:ext cx="777240" cy="585216"/>
          </a:xfrm>
          <a:prstGeom prst="roundRect">
            <a:avLst/>
          </a:prstGeom>
          <a:solidFill>
            <a:srgbClr val="1B6AC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8" name="Shape 8"/>
          <p:cNvSpPr/>
          <p:nvPr/>
        </p:nvSpPr>
        <p:spPr>
          <a:xfrm>
            <a:off x="1463040" y="1655064"/>
            <a:ext cx="10012680" cy="585216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CallOriginator tick — cagri kuyruktan alinir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isFctRoutingPath: fctRoutingEnabled + callerIdBehaviour=POOL</a:t>
            </a:r>
          </a:p>
        </p:txBody>
      </p:sp>
      <p:sp>
        <p:nvSpPr>
          <p:cNvPr id="9" name="Shape 9"/>
          <p:cNvSpPr/>
          <p:nvPr/>
        </p:nvSpPr>
        <p:spPr>
          <a:xfrm>
            <a:off x="859536" y="2253996"/>
            <a:ext cx="182880" cy="118872"/>
          </a:xfrm>
          <a:prstGeom prst="downArrow">
            <a:avLst/>
          </a:prstGeom>
          <a:solidFill>
            <a:srgbClr val="9AA9B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Shape 10"/>
          <p:cNvSpPr/>
          <p:nvPr/>
        </p:nvSpPr>
        <p:spPr>
          <a:xfrm>
            <a:off x="566928" y="2386584"/>
            <a:ext cx="777240" cy="585216"/>
          </a:xfrm>
          <a:prstGeom prst="roundRect">
            <a:avLst/>
          </a:prstGeom>
          <a:solidFill>
            <a:srgbClr val="1B6AC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1" name="Shape 11"/>
          <p:cNvSpPr/>
          <p:nvPr/>
        </p:nvSpPr>
        <p:spPr>
          <a:xfrm>
            <a:off x="1463040" y="2386584"/>
            <a:ext cx="10012680" cy="585216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QSS getRouteDetails(routingGroupId, calledNumber)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Yanit: phoneNumber + type + attempts + capacity listesi</a:t>
            </a:r>
          </a:p>
        </p:txBody>
      </p:sp>
      <p:sp>
        <p:nvSpPr>
          <p:cNvPr id="12" name="Shape 12"/>
          <p:cNvSpPr/>
          <p:nvPr/>
        </p:nvSpPr>
        <p:spPr>
          <a:xfrm>
            <a:off x="859536" y="2985516"/>
            <a:ext cx="182880" cy="118872"/>
          </a:xfrm>
          <a:prstGeom prst="downArrow">
            <a:avLst/>
          </a:prstGeom>
          <a:solidFill>
            <a:srgbClr val="9AA9B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Shape 13"/>
          <p:cNvSpPr/>
          <p:nvPr/>
        </p:nvSpPr>
        <p:spPr>
          <a:xfrm>
            <a:off x="566928" y="3118104"/>
            <a:ext cx="777240" cy="585216"/>
          </a:xfrm>
          <a:prstGeom prst="roundRect">
            <a:avLst/>
          </a:prstGeom>
          <a:solidFill>
            <a:srgbClr val="0F9D8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4" name="Shape 14"/>
          <p:cNvSpPr/>
          <p:nvPr/>
        </p:nvSpPr>
        <p:spPr>
          <a:xfrm>
            <a:off x="1463040" y="3118104"/>
            <a:ext cx="10012680" cy="585216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RouteDetailsFilter.filterForCall(entries, callType, attempts)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FRESH-&gt;Dialer First · RETRY-&gt;Retry · CALLBACK-&gt;Callback · uc katmanli fail-open</a:t>
            </a:r>
          </a:p>
        </p:txBody>
      </p:sp>
      <p:sp>
        <p:nvSpPr>
          <p:cNvPr id="15" name="Shape 15"/>
          <p:cNvSpPr/>
          <p:nvPr/>
        </p:nvSpPr>
        <p:spPr>
          <a:xfrm>
            <a:off x="859536" y="3717036"/>
            <a:ext cx="182880" cy="118872"/>
          </a:xfrm>
          <a:prstGeom prst="downArrow">
            <a:avLst/>
          </a:prstGeom>
          <a:solidFill>
            <a:srgbClr val="9AA9B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Shape 16"/>
          <p:cNvSpPr/>
          <p:nvPr/>
        </p:nvSpPr>
        <p:spPr>
          <a:xfrm>
            <a:off x="566928" y="3849624"/>
            <a:ext cx="777240" cy="585216"/>
          </a:xfrm>
          <a:prstGeom prst="roundRect">
            <a:avLst/>
          </a:prstGeom>
          <a:solidFill>
            <a:srgbClr val="0F9D8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7" name="Shape 17"/>
          <p:cNvSpPr/>
          <p:nvPr/>
        </p:nvSpPr>
        <p:spPr>
          <a:xfrm>
            <a:off x="1463040" y="3849624"/>
            <a:ext cx="10012680" cy="585216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RouteDetailsCursor kurulur, ilk entry caller ID olur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Cursor cagriya baglanir: cause 34 iterasyonu da bu cursor uzerinden yurur</a:t>
            </a:r>
          </a:p>
        </p:txBody>
      </p:sp>
      <p:sp>
        <p:nvSpPr>
          <p:cNvPr id="18" name="Shape 18"/>
          <p:cNvSpPr/>
          <p:nvPr/>
        </p:nvSpPr>
        <p:spPr>
          <a:xfrm>
            <a:off x="859536" y="4448556"/>
            <a:ext cx="182880" cy="118872"/>
          </a:xfrm>
          <a:prstGeom prst="downArrow">
            <a:avLst/>
          </a:prstGeom>
          <a:solidFill>
            <a:srgbClr val="9AA9B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9" name="Shape 19"/>
          <p:cNvSpPr/>
          <p:nvPr/>
        </p:nvSpPr>
        <p:spPr>
          <a:xfrm>
            <a:off x="566928" y="4581144"/>
            <a:ext cx="777240" cy="58521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20" name="Shape 20"/>
          <p:cNvSpPr/>
          <p:nvPr/>
        </p:nvSpPr>
        <p:spPr>
          <a:xfrm>
            <a:off x="1463040" y="4581144"/>
            <a:ext cx="10012680" cy="585216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processOrigination: pause kontrolu -&gt; KAPASITE GATE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reserveForOrigination: cursor uzerinde dolu/cooldown entry'leri atlar</a:t>
            </a:r>
          </a:p>
        </p:txBody>
      </p:sp>
      <p:sp>
        <p:nvSpPr>
          <p:cNvPr id="21" name="Shape 21"/>
          <p:cNvSpPr/>
          <p:nvPr/>
        </p:nvSpPr>
        <p:spPr>
          <a:xfrm>
            <a:off x="859536" y="5180076"/>
            <a:ext cx="182880" cy="118872"/>
          </a:xfrm>
          <a:prstGeom prst="downArrow">
            <a:avLst/>
          </a:prstGeom>
          <a:solidFill>
            <a:srgbClr val="9AA9B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2" name="Shape 22"/>
          <p:cNvSpPr/>
          <p:nvPr/>
        </p:nvSpPr>
        <p:spPr>
          <a:xfrm>
            <a:off x="566928" y="5312664"/>
            <a:ext cx="777240" cy="585216"/>
          </a:xfrm>
          <a:prstGeom prst="roundRect">
            <a:avLst/>
          </a:prstGeom>
          <a:solidFill>
            <a:srgbClr val="0F9D8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23" name="Shape 23"/>
          <p:cNvSpPr/>
          <p:nvPr/>
        </p:nvSpPr>
        <p:spPr>
          <a:xfrm>
            <a:off x="1463040" y="5312664"/>
            <a:ext cx="10012680" cy="585216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Rezervasyon alindi -&gt; AMI OriginateAction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callQueue.add + addToOriginatedCalls + CDR + Redis dial event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Rezervasyon NEDEN burada: LSC async islemi ve preview timeout suresince FCT kanali bosa tutulmasin diye AMI send'e en yakin noktada alinir.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KAPASITE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Kapasite hesabi ve headroom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7" name="Shape 7"/>
          <p:cNvSpPr/>
          <p:nvPr/>
        </p:nvSpPr>
        <p:spPr>
          <a:xfrm>
            <a:off x="566928" y="1655064"/>
            <a:ext cx="5321808" cy="41605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Shape 8"/>
          <p:cNvSpPr/>
          <p:nvPr/>
        </p:nvSpPr>
        <p:spPr>
          <a:xfrm>
            <a:off x="566928" y="1655064"/>
            <a:ext cx="5321808" cy="50292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822960" y="1892808"/>
            <a:ext cx="4809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600" b="1" i="0" dirty="0">
                <a:solidFill>
                  <a:srgbClr val="1B6AC9"/>
                </a:solidFill>
                <a:latin typeface="Segoe UI"/>
                <a:cs typeface="Segoe UI"/>
              </a:rPr>
              <a:t>effectiveCapacity(capacity)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2960" y="2368296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headroom = %10 (varsayilan)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2960" y="2734056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effective = floor(capacity * 90 / 100)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2960" y="3063240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en az 1 (Math.max(1, effective))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2960" y="3392424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Ornek: capacity = 10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2960" y="3758184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effective = 9 -&gt; 10. cagri REJECT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2960" y="4087368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Neden headroom var?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4453128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PowerDialer disi tuketiciler ve restart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2960" y="4782312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sonrasi bilinmeyen doluluk icin pay</a:t>
            </a:r>
          </a:p>
        </p:txBody>
      </p:sp>
      <p:sp>
        <p:nvSpPr>
          <p:cNvPr id="18" name="Shape 18"/>
          <p:cNvSpPr/>
          <p:nvPr/>
        </p:nvSpPr>
        <p:spPr>
          <a:xfrm>
            <a:off x="6163056" y="1655064"/>
            <a:ext cx="5321808" cy="41605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9" name="Shape 19"/>
          <p:cNvSpPr/>
          <p:nvPr/>
        </p:nvSpPr>
        <p:spPr>
          <a:xfrm>
            <a:off x="6163056" y="1655064"/>
            <a:ext cx="5321808" cy="50292"/>
          </a:xfrm>
          <a:prstGeom prst="rect">
            <a:avLst/>
          </a:prstGeom>
          <a:solidFill>
            <a:srgbClr val="6B7A8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0" name="TextBox 20"/>
          <p:cNvSpPr txBox="1"/>
          <p:nvPr/>
        </p:nvSpPr>
        <p:spPr>
          <a:xfrm>
            <a:off x="6419088" y="1892808"/>
            <a:ext cx="4809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600" b="1" i="0" dirty="0">
                <a:solidFill>
                  <a:srgbClr val="6B7A8F"/>
                </a:solidFill>
                <a:latin typeface="Segoe UI"/>
                <a:cs typeface="Segoe UI"/>
              </a:rPr>
              <a:t>Gate ne zaman PASIF?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19088" y="2368296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capacity &lt;= 0 (QSS'te NULL)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19088" y="2734056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isGateActive false -&gt; her zaman true doner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9088" y="3063240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fct.channel.gate.enabled = false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19088" y="3429000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Kill switch: 04.05 davranisi birebir geri gelir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19088" y="3758184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Ikisinde de rezervasyon YINE KAYDEDILIR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19088" y="4123944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Monitor ekrani gercek dolulugu gate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19088" y="4453128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acilmadan once de gosterir (fail-open)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Kapasite kontrolu ve rezervasyon ayni per-numara synchronized blogunda yapilir: iki originator thread'i son kanali ikiye satamaz.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DOLULUK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Tum FCT'ler dolu ise: cagri YAKILMAZ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7" name="Shape 7"/>
          <p:cNvSpPr/>
          <p:nvPr/>
        </p:nvSpPr>
        <p:spPr>
          <a:xfrm>
            <a:off x="566928" y="1655064"/>
            <a:ext cx="777240" cy="7315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8" name="Shape 8"/>
          <p:cNvSpPr/>
          <p:nvPr/>
        </p:nvSpPr>
        <p:spPr>
          <a:xfrm>
            <a:off x="1463040" y="1655064"/>
            <a:ext cx="10012680" cy="7315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reserveForOrigination false doner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Cursor'daki her entry dolu veya cooldown'da -&gt; WARN + originate atlanir</a:t>
            </a:r>
          </a:p>
        </p:txBody>
      </p:sp>
      <p:sp>
        <p:nvSpPr>
          <p:cNvPr id="9" name="Shape 9"/>
          <p:cNvSpPr/>
          <p:nvPr/>
        </p:nvSpPr>
        <p:spPr>
          <a:xfrm>
            <a:off x="859536" y="2400300"/>
            <a:ext cx="182880" cy="118872"/>
          </a:xfrm>
          <a:prstGeom prst="downArrow">
            <a:avLst/>
          </a:prstGeom>
          <a:solidFill>
            <a:srgbClr val="9AA9B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Shape 10"/>
          <p:cNvSpPr/>
          <p:nvPr/>
        </p:nvSpPr>
        <p:spPr>
          <a:xfrm>
            <a:off x="566928" y="2532888"/>
            <a:ext cx="777240" cy="7315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1" name="Shape 11"/>
          <p:cNvSpPr/>
          <p:nvPr/>
        </p:nvSpPr>
        <p:spPr>
          <a:xfrm>
            <a:off x="1463040" y="2532888"/>
            <a:ext cx="10012680" cy="7315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deferOriginationUntilFctChannelAvailable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Kampanya pause defer'i ile AYNI primitive kullanilir</a:t>
            </a:r>
          </a:p>
        </p:txBody>
      </p:sp>
      <p:sp>
        <p:nvSpPr>
          <p:cNvPr id="12" name="Shape 12"/>
          <p:cNvSpPr/>
          <p:nvPr/>
        </p:nvSpPr>
        <p:spPr>
          <a:xfrm>
            <a:off x="859536" y="3278124"/>
            <a:ext cx="182880" cy="118872"/>
          </a:xfrm>
          <a:prstGeom prst="downArrow">
            <a:avLst/>
          </a:prstGeom>
          <a:solidFill>
            <a:srgbClr val="9AA9B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Shape 13"/>
          <p:cNvSpPr/>
          <p:nvPr/>
        </p:nvSpPr>
        <p:spPr>
          <a:xfrm>
            <a:off x="566928" y="3410712"/>
            <a:ext cx="777240" cy="731520"/>
          </a:xfrm>
          <a:prstGeom prst="roundRect">
            <a:avLst/>
          </a:prstGeom>
          <a:solidFill>
            <a:srgbClr val="0F9D8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4" name="Shape 14"/>
          <p:cNvSpPr/>
          <p:nvPr/>
        </p:nvSpPr>
        <p:spPr>
          <a:xfrm>
            <a:off x="1463040" y="3410712"/>
            <a:ext cx="10012680" cy="7315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cleanupCallBeforeDeferredOrigination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attempt geri alinir · agent idle havuzuna doner · callUpToDateKeeper unregister</a:t>
            </a:r>
          </a:p>
        </p:txBody>
      </p:sp>
      <p:sp>
        <p:nvSpPr>
          <p:cNvPr id="15" name="Shape 15"/>
          <p:cNvSpPr/>
          <p:nvPr/>
        </p:nvSpPr>
        <p:spPr>
          <a:xfrm>
            <a:off x="859536" y="4155948"/>
            <a:ext cx="182880" cy="118872"/>
          </a:xfrm>
          <a:prstGeom prst="downArrow">
            <a:avLst/>
          </a:prstGeom>
          <a:solidFill>
            <a:srgbClr val="9AA9B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Shape 16"/>
          <p:cNvSpPr/>
          <p:nvPr/>
        </p:nvSpPr>
        <p:spPr>
          <a:xfrm>
            <a:off x="566928" y="4288536"/>
            <a:ext cx="777240" cy="731520"/>
          </a:xfrm>
          <a:prstGeom prst="roundRect">
            <a:avLst/>
          </a:prstGeom>
          <a:solidFill>
            <a:srgbClr val="0F9D8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7" name="Shape 17"/>
          <p:cNvSpPr/>
          <p:nvPr/>
        </p:nvSpPr>
        <p:spPr>
          <a:xfrm>
            <a:off x="1463040" y="4288536"/>
            <a:ext cx="10012680" cy="7315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Cagri kuyrugun BASINA konur (offerFirst)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Bir sonraki tick'te yeniden denenir; sira kaybi olmaz</a:t>
            </a:r>
          </a:p>
        </p:txBody>
      </p:sp>
      <p:sp>
        <p:nvSpPr>
          <p:cNvPr id="18" name="Shape 18"/>
          <p:cNvSpPr/>
          <p:nvPr/>
        </p:nvSpPr>
        <p:spPr>
          <a:xfrm>
            <a:off x="859536" y="5033772"/>
            <a:ext cx="182880" cy="118872"/>
          </a:xfrm>
          <a:prstGeom prst="downArrow">
            <a:avLst/>
          </a:prstGeom>
          <a:solidFill>
            <a:srgbClr val="9AA9B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9" name="Shape 19"/>
          <p:cNvSpPr/>
          <p:nvPr/>
        </p:nvSpPr>
        <p:spPr>
          <a:xfrm>
            <a:off x="566928" y="5166360"/>
            <a:ext cx="777240" cy="731520"/>
          </a:xfrm>
          <a:prstGeom prst="roundRect">
            <a:avLst/>
          </a:prstGeom>
          <a:solidFill>
            <a:srgbClr val="B02A1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20" name="Shape 20"/>
          <p:cNvSpPr/>
          <p:nvPr/>
        </p:nvSpPr>
        <p:spPr>
          <a:xfrm>
            <a:off x="1463040" y="5166360"/>
            <a:ext cx="10012680" cy="7315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Defer limiti (10) asilirsa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TELEPHONE_RC_NO_CALLERID_AVAILABLE akisina dusulur — cagri sonsuza kadar donmez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Kritik davranis: kapasite yoklugu bir HATA degil, bir BEKLEME durumudur. Cagri kaydi ve attempt sayaci korunur.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CAUSE 34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cause 34 geldiyse: bilgiyi sakla, cagriyi zorlamadan devret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7" name="Shape 7"/>
          <p:cNvSpPr/>
          <p:nvPr/>
        </p:nvSpPr>
        <p:spPr>
          <a:xfrm>
            <a:off x="566928" y="1655064"/>
            <a:ext cx="777240" cy="950976"/>
          </a:xfrm>
          <a:prstGeom prst="roundRect">
            <a:avLst/>
          </a:prstGeom>
          <a:solidFill>
            <a:srgbClr val="B02A1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8" name="Shape 8"/>
          <p:cNvSpPr/>
          <p:nvPr/>
        </p:nvSpPr>
        <p:spPr>
          <a:xfrm>
            <a:off x="1463040" y="1655064"/>
            <a:ext cx="10012680" cy="950976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DialerHangupEvent, hangupCause = 34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HANGUP_CAUSE_NO_CIRCUIT_AVAILABLE -&gt; tryFctRetryWithNextCallerId</a:t>
            </a:r>
          </a:p>
        </p:txBody>
      </p:sp>
      <p:sp>
        <p:nvSpPr>
          <p:cNvPr id="9" name="Shape 9"/>
          <p:cNvSpPr/>
          <p:nvPr/>
        </p:nvSpPr>
        <p:spPr>
          <a:xfrm>
            <a:off x="859536" y="2619756"/>
            <a:ext cx="182880" cy="118872"/>
          </a:xfrm>
          <a:prstGeom prst="downArrow">
            <a:avLst/>
          </a:prstGeom>
          <a:solidFill>
            <a:srgbClr val="9AA9B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Shape 10"/>
          <p:cNvSpPr/>
          <p:nvPr/>
        </p:nvSpPr>
        <p:spPr>
          <a:xfrm>
            <a:off x="566928" y="2752344"/>
            <a:ext cx="777240" cy="95097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1" name="Shape 11"/>
          <p:cNvSpPr/>
          <p:nvPr/>
        </p:nvSpPr>
        <p:spPr>
          <a:xfrm>
            <a:off x="1463040" y="2752344"/>
            <a:ext cx="10012680" cy="950976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isListRetryAllowed(fctListRetryCount)?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fct.channel.list.retry.max = 0 -&gt; gate acikken in-call retry YOK</a:t>
            </a:r>
          </a:p>
        </p:txBody>
      </p:sp>
      <p:sp>
        <p:nvSpPr>
          <p:cNvPr id="12" name="Shape 12"/>
          <p:cNvSpPr/>
          <p:nvPr/>
        </p:nvSpPr>
        <p:spPr>
          <a:xfrm>
            <a:off x="859536" y="3717036"/>
            <a:ext cx="182880" cy="118872"/>
          </a:xfrm>
          <a:prstGeom prst="downArrow">
            <a:avLst/>
          </a:prstGeom>
          <a:solidFill>
            <a:srgbClr val="9AA9B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Shape 13"/>
          <p:cNvSpPr/>
          <p:nvPr/>
        </p:nvSpPr>
        <p:spPr>
          <a:xfrm>
            <a:off x="566928" y="3849624"/>
            <a:ext cx="777240" cy="950976"/>
          </a:xfrm>
          <a:prstGeom prst="roundRect">
            <a:avLst/>
          </a:prstGeom>
          <a:solidFill>
            <a:srgbClr val="0F9D8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4" name="Shape 14"/>
          <p:cNvSpPr/>
          <p:nvPr/>
        </p:nvSpPr>
        <p:spPr>
          <a:xfrm>
            <a:off x="1463040" y="3849624"/>
            <a:ext cx="10012680" cy="950976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Sinir asilsa da releaseAndMarkFull calisir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Rezervasyon birakilir + numara 60 sn cooldown'a alinir</a:t>
            </a:r>
          </a:p>
        </p:txBody>
      </p:sp>
      <p:sp>
        <p:nvSpPr>
          <p:cNvPr id="15" name="Shape 15"/>
          <p:cNvSpPr/>
          <p:nvPr/>
        </p:nvSpPr>
        <p:spPr>
          <a:xfrm>
            <a:off x="859536" y="4814316"/>
            <a:ext cx="182880" cy="118872"/>
          </a:xfrm>
          <a:prstGeom prst="downArrow">
            <a:avLst/>
          </a:prstGeom>
          <a:solidFill>
            <a:srgbClr val="9AA9B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Shape 16"/>
          <p:cNvSpPr/>
          <p:nvPr/>
        </p:nvSpPr>
        <p:spPr>
          <a:xfrm>
            <a:off x="566928" y="4946904"/>
            <a:ext cx="777240" cy="950976"/>
          </a:xfrm>
          <a:prstGeom prst="roundRect">
            <a:avLst/>
          </a:prstGeom>
          <a:solidFill>
            <a:srgbClr val="0F9D8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700" b="1" i="0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7" name="Shape 17"/>
          <p:cNvSpPr/>
          <p:nvPr/>
        </p:nvSpPr>
        <p:spPr>
          <a:xfrm>
            <a:off x="1463040" y="4946904"/>
            <a:ext cx="10012680" cy="950976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tr-TR" sz="1400" b="1" i="0" dirty="0">
                <a:solidFill>
                  <a:srgbClr val="1F2933"/>
                </a:solidFill>
                <a:latin typeface="Segoe UI"/>
                <a:cs typeface="Segoe UI"/>
              </a:rPr>
              <a:t>Standart processCallResult zinciri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TRC 25 -&gt; retry strategy. Cagri kaybolmaz, normal retry politikasina girer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Gerekce: gate zaten dolu/cooldown FCT'ye gitmiyor. Buna ragmen cause 34 geliyorsa kitlik gate'in gormedigi seviyededir (trunk/SBC) ve siradaki FCT'nin de basarisiz olma olasiligi yuksek, kanal-zamani maliyeti ise kesin.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6600" b="1" i="0" dirty="0">
                <a:solidFill>
                  <a:srgbClr val="D4DEE8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31720" y="2606040"/>
            <a:ext cx="8595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3200" b="1" i="0" dirty="0">
                <a:solidFill>
                  <a:srgbClr val="1F2933"/>
                </a:solidFill>
                <a:latin typeface="Segoe UI"/>
                <a:cs typeface="Segoe UI"/>
              </a:rPr>
              <a:t>Dayaniklilik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77440" y="342900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00" b="0" i="0" dirty="0">
                <a:solidFill>
                  <a:srgbClr val="6B7A8F"/>
                </a:solidFill>
                <a:latin typeface="Segoe UI"/>
                <a:cs typeface="Segoe UI"/>
              </a:rPr>
              <a:t>Kacan release, restart, kampanya aksiyonlari ve QSS kesintisi.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RELEASE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Release noktalari — kanal nerede geri verilir?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7" name="Shape 7"/>
          <p:cNvSpPr/>
          <p:nvPr/>
        </p:nvSpPr>
        <p:spPr>
          <a:xfrm>
            <a:off x="603504" y="1746504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896112" y="1655064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Normal yol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4128" y="2084832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releaseTelephonySlotIfNeeded — telefonluk slotla ayni anda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4128" y="2459736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CallCleaner.completeCall — cagri tamamlandiginda</a:t>
            </a:r>
          </a:p>
        </p:txBody>
      </p:sp>
      <p:sp>
        <p:nvSpPr>
          <p:cNvPr id="11" name="Shape 11"/>
          <p:cNvSpPr/>
          <p:nvPr/>
        </p:nvSpPr>
        <p:spPr>
          <a:xfrm>
            <a:off x="603504" y="2926080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896112" y="283464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Istisnai yollar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4128" y="3264408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CallCleaner.clearExpiredCall — CALL_EXPIRE_TIMEOUT sonrasi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4128" y="3639312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handlePreviewTimeout · handleExceptionDuringOrigination — Originate atilamadiysa kanal hemen geri verilir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4128" y="4014216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cause 34 releaseAndMarkFull · CampaignStopJob.lastCleanUpChecks (kampanya bazli safety net)</a:t>
            </a:r>
          </a:p>
        </p:txBody>
      </p:sp>
      <p:sp>
        <p:nvSpPr>
          <p:cNvPr id="16" name="Shape 16"/>
          <p:cNvSpPr/>
          <p:nvPr/>
        </p:nvSpPr>
        <p:spPr>
          <a:xfrm>
            <a:off x="603504" y="4480560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896112" y="43891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Son savunma hatti: TTL prune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4128" y="4818888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fct.channel.ttl.ms = 3.900.000 ms = CALL_EXPIRE_TIMEOUT (1 sa) + 5 dk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4128" y="5193792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TTL bilincli olarak cagri omrunun UZERINDE: aksi halde konusma halindeki uzun cagrinin kanali erken birakilir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128" y="5568696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fct.channel.stale.warn.ms = 600.000 -&gt; 10 dk hareketsiz kayit monitor'de isaretlenir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Release owner kontrollu (numara, callId) ve idempotenttir: yasam dongusunun birden fazla noktasindan cagrilmasi guvenlidir.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YASAM DONGUSU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Kampanya yasam dongusu ve restart davranisi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66928" y="1655064"/>
          <a:ext cx="10917936" cy="3291840"/>
        </p:xfrm>
        <a:graphic>
          <a:graphicData uri="http://schemas.openxmlformats.org/drawingml/2006/table">
            <a:tbl>
              <a:tblPr firstRow="1"/>
              <a:tblGrid>
                <a:gridCol w="2743200"/>
                <a:gridCol w="3108960"/>
                <a:gridCol w="5065776"/>
              </a:tblGrid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Aksiyon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Registry'ye etkisi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Gerekce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Campaign START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Etki yok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Rezervasyonun sahibi CAGRIDIR, kampanya degil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Campaign PAUSE / PAUSING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Etki yok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Ucustaki cagrilar kanalini tutmaya devam eder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Campaign RESET / RELOAD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Etki yok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Registry bir indekstir, ikinci bir dogruluk kaynagi degil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Campaign STOP (graceful)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Cagri bazli release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Her cagri normal hangup yolundan birakir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Campaign STOP (forceful)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releaseAllForCampaign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CampaignStopJob.lastCleanUpChecks icinde safety net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Scheduler otomatik start/stop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Manuel ile ayni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Ayri bir kod yolu yok, ayni primitive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Uygulama RESTART / DEPLOY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Registry BOSALIR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JVM ici state; kisa sure kapasite bos gorunur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Restart sonrasi ilk dakika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Cold start WARN + cooldown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headroom %10 ve cooldown bu pencereyi absorbe eder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Preview kampanyalar gate kapsami disindadir (originate'i webphone atar); FCT routing liste iterasyonu preview'da korunur.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HATA AYRIMI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QSS erisilemezse: gecici hata ile kalici yokluk ayrildi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7" name="Shape 7"/>
          <p:cNvSpPr/>
          <p:nvPr/>
        </p:nvSpPr>
        <p:spPr>
          <a:xfrm>
            <a:off x="566928" y="1655064"/>
            <a:ext cx="5321808" cy="41605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Shape 8"/>
          <p:cNvSpPr/>
          <p:nvPr/>
        </p:nvSpPr>
        <p:spPr>
          <a:xfrm>
            <a:off x="566928" y="1655064"/>
            <a:ext cx="5321808" cy="50292"/>
          </a:xfrm>
          <a:prstGeom prst="rect">
            <a:avLst/>
          </a:prstGeom>
          <a:solidFill>
            <a:srgbClr val="B02A1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822960" y="1892808"/>
            <a:ext cx="4809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600" b="1" i="0" dirty="0">
                <a:solidFill>
                  <a:srgbClr val="B02A1F"/>
                </a:solidFill>
                <a:latin typeface="Segoe UI"/>
                <a:cs typeface="Segoe UI"/>
              </a:rPr>
              <a:t>GECICI — erisilemedi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2960" y="2368296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RouteDetailsUnavailableException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2960" y="2734056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gRPC channel yok veya cagri hata atti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2960" y="3063240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cancelCall(..., allowRetries = TRUE)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2960" y="3429000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Cagri retry'a izin verilerek iptal edilir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2960" y="3758184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Onceden ne oluyordu?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2960" y="4123944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Hata da bos liste donuyordu -&gt; retry'siz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4453128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iptal -&gt; kisa bir QSS/Eureka kesintisinde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2960" y="4782312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o an originate edilen TUM cagrilar TRC 910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5111496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ile KALICI olarak kaybediliyordu</a:t>
            </a:r>
          </a:p>
        </p:txBody>
      </p:sp>
      <p:sp>
        <p:nvSpPr>
          <p:cNvPr id="19" name="Shape 19"/>
          <p:cNvSpPr/>
          <p:nvPr/>
        </p:nvSpPr>
        <p:spPr>
          <a:xfrm>
            <a:off x="6163056" y="1655064"/>
            <a:ext cx="5321808" cy="41605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0" name="Shape 20"/>
          <p:cNvSpPr/>
          <p:nvPr/>
        </p:nvSpPr>
        <p:spPr>
          <a:xfrm>
            <a:off x="6163056" y="1655064"/>
            <a:ext cx="5321808" cy="5029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1" name="TextBox 21"/>
          <p:cNvSpPr txBox="1"/>
          <p:nvPr/>
        </p:nvSpPr>
        <p:spPr>
          <a:xfrm>
            <a:off x="6419088" y="1892808"/>
            <a:ext cx="4809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600" b="1" i="0" dirty="0">
                <a:solidFill>
                  <a:srgbClr val="B45309"/>
                </a:solidFill>
                <a:latin typeface="Segoe UI"/>
                <a:cs typeface="Segoe UI"/>
              </a:rPr>
              <a:t>KALICI — route yok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19088" y="2368296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Bos liste (grup bulunamadi)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9088" y="2734056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QSS sozlesmesine gore bu bir HATA DEGIL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19088" y="3063240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NoAvailablePoolCallerIdException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19088" y="3429000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cancelCall(..., allowRetries = FALSE)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19088" y="3758184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1" i="0" dirty="0">
                <a:solidFill>
                  <a:srgbClr val="1F2933"/>
                </a:solidFill>
                <a:latin typeface="Segoe UI"/>
                <a:cs typeface="Segoe UI"/>
              </a:rPr>
              <a:t>Neden retry'siz?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19088" y="4123944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Konfigurasyon eksikligi tekrar denemekle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19088" y="4453128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duzelmez; cagriyi kuyrukta dondurmek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19088" y="4782312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00" b="0" i="0" dirty="0">
                <a:solidFill>
                  <a:srgbClr val="6B7A8F"/>
                </a:solidFill>
                <a:latin typeface="Segoe UI"/>
                <a:cs typeface="Segoe UI"/>
              </a:rPr>
              <a:t>yalnizca kaynak harcar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Ayrica: her FCT originate'inde basilan 'Got route details' INFO satiri guard'li DEBUG'a indirildi (gunluk ~180.000 satir).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SOZLESME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QSS getRouteDetails sozlesmesi ve RouteDetailsFilter suzmesi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66928" y="1655064"/>
          <a:ext cx="10917936" cy="2194560"/>
        </p:xfrm>
        <a:graphic>
          <a:graphicData uri="http://schemas.openxmlformats.org/drawingml/2006/table">
            <a:tbl>
              <a:tblPr firstRow="1"/>
              <a:tblGrid>
                <a:gridCol w="1737360"/>
                <a:gridCol w="4114800"/>
                <a:gridCol w="5065776"/>
              </a:tblGrid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Alan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QSS davranisi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PowerDialer kullanimi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phoneNumber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 numarasi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Kapasite anahtari + caller ID (bir numara = bir FCT)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type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Virgulle birlesik: Manual, Retry,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Callback, Dialer First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callType eslesmesi: FRESH-&gt;Dialer First,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RETRY-&gt;Retry, CALLBACK-&gt;Callback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attempts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Virgulle birlesik; AT_ yoksa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0..99 fallback doner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call.getAttempts() ile token bazli eslesme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capacity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Numara basina es zamanli cikis limiti;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qss_route.capacity NULL ise 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effectiveCapacity(capacity) -&gt; gate esigi;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0 ise gate pasif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(grup yok)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Bos liste doner — hata degil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1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NoAvailablePoolCallerId -&gt; retry'siz iptal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SINIR: bu suzme retryCallerIdBehavior (UNIQUE/SAME) semantigini geri KAZANDIRMAZ. O semantik QSS provision history'sini gerektirir; tam parite icin RouteDetailsRequest'e context alanlari eklenmelidir (kalem 1b, QSS gundeminde).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SUZME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RouteDetailsFilter: uc katmanli fail-open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7" name="Shape 7"/>
          <p:cNvSpPr/>
          <p:nvPr/>
        </p:nvSpPr>
        <p:spPr>
          <a:xfrm>
            <a:off x="603504" y="1746504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896112" y="1655064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Katman 1 — bos alan degeri entry'yi ELEMEZ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4128" y="2084832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type veya attempts bos geldiyse matchesType/matchesAttempt true doner</a:t>
            </a:r>
          </a:p>
        </p:txBody>
      </p:sp>
      <p:sp>
        <p:nvSpPr>
          <p:cNvPr id="10" name="Shape 10"/>
          <p:cNvSpPr/>
          <p:nvPr/>
        </p:nvSpPr>
        <p:spPr>
          <a:xfrm>
            <a:off x="603504" y="2551176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896112" y="2459736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Katman 2 — taninmayan QSS sozlugu entry'yi ELEMEZ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128" y="2889504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Degerde hic BILINEN etiket yoksa (QSS sozlugu degismis olabilir) entry korunur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4128" y="3264408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Ayni mantik attempts icin: hic sayisal token yoksa entry korunur</a:t>
            </a:r>
          </a:p>
        </p:txBody>
      </p:sp>
      <p:sp>
        <p:nvSpPr>
          <p:cNvPr id="14" name="Shape 14"/>
          <p:cNvSpPr/>
          <p:nvPr/>
        </p:nvSpPr>
        <p:spPr>
          <a:xfrm>
            <a:off x="603504" y="3730752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896112" y="3639312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Katman 3 — suzme tum listeyi elerse filtresiz listeye DONULUR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4128" y="4069080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WARN basilir: 'Route details filter emptied the list, falling back to unfiltered'</a:t>
            </a:r>
          </a:p>
        </p:txBody>
      </p:sp>
      <p:sp>
        <p:nvSpPr>
          <p:cNvPr id="17" name="Shape 17"/>
          <p:cNvSpPr/>
          <p:nvPr/>
        </p:nvSpPr>
        <p:spPr>
          <a:xfrm>
            <a:off x="603504" y="4535424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896112" y="4443984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Netice: suzme hicbir kosulda cagriyi caller ID'siz birakmaz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4128" y="4873752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QSS siralamasi korunur — oncelik mantigi QSS'te kalir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Neden gerekli: obtainCallerId QSS'e Uniqueness + AT_ + CT_PD_ + UT_CAMPAIGN_ gonderirken obtainRouteDetailsCursor yalniz (routingGroupId, calledNumber) gonderiyordu; caller ID secim is kurali sessizce yok sayiliyordu.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6600" b="1" i="0" dirty="0">
                <a:solidFill>
                  <a:srgbClr val="D4DEE8"/>
                </a:solidFill>
                <a:latin typeface="Segoe UI"/>
                <a:cs typeface="Segoe UI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31720" y="2606040"/>
            <a:ext cx="8595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3200" b="1" i="0" dirty="0">
                <a:solidFill>
                  <a:srgbClr val="1F2933"/>
                </a:solidFill>
                <a:latin typeface="Segoe UI"/>
                <a:cs typeface="Segoe UI"/>
              </a:rPr>
              <a:t>Izleme ve konfigurasyon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77440" y="342900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00" b="0" i="0" dirty="0">
                <a:solidFill>
                  <a:srgbClr val="6B7A8F"/>
                </a:solidFill>
                <a:latin typeface="Segoe UI"/>
                <a:cs typeface="Segoe UI"/>
              </a:rPr>
              <a:t>Canli registry durumu, KPI'lar ve tek property'lik geri donus yolu.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MONITOR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FCT Channel Monitor ekrani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7" name="Shape 7"/>
          <p:cNvSpPr/>
          <p:nvPr/>
        </p:nvSpPr>
        <p:spPr>
          <a:xfrm>
            <a:off x="603504" y="1746504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896112" y="1655064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Options menusu altinda, DialerAdministration yetkisiyle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4128" y="2084832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GET /fctChannel/snapshot — 1 sn sunucu tarafi cache (fct.channel.snapshot.cache.ms)</a:t>
            </a:r>
          </a:p>
        </p:txBody>
      </p:sp>
      <p:sp>
        <p:nvSpPr>
          <p:cNvPr id="10" name="Shape 10"/>
          <p:cNvSpPr/>
          <p:nvPr/>
        </p:nvSpPr>
        <p:spPr>
          <a:xfrm>
            <a:off x="603504" y="2551176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896112" y="2459736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Numara bazli tablo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128" y="2889504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phoneNumber · type · attempts · capacity · effectiveCapacity · in-flight · doluluk 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4128" y="3264408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cooldown kalan sure · son olay zamani · stale isareti (10 dk hareketsiz)</a:t>
            </a:r>
          </a:p>
        </p:txBody>
      </p:sp>
      <p:sp>
        <p:nvSpPr>
          <p:cNvPr id="14" name="Shape 14"/>
          <p:cNvSpPr/>
          <p:nvPr/>
        </p:nvSpPr>
        <p:spPr>
          <a:xfrm>
            <a:off x="603504" y="3730752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896112" y="3639312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Olay log'u — bounded ArrayDeque, son 200 kayit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4128" y="4069080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ACQUIRE · RELEASE · REJECT (kapasite dolu) · SKIP (cooldown) · MARK_FULL · PRUNE</a:t>
            </a:r>
          </a:p>
        </p:txBody>
      </p:sp>
      <p:sp>
        <p:nvSpPr>
          <p:cNvPr id="17" name="Shape 17"/>
          <p:cNvSpPr/>
          <p:nvPr/>
        </p:nvSpPr>
        <p:spPr>
          <a:xfrm>
            <a:off x="603504" y="4535424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896112" y="4443984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KPI — kayan 5 dakikalik pencere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4128" y="4873752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pruned (kacan release gostergesi) · skipped (cooldown) · rejected (kapasite dolu)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128" y="5248656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pruned sayisi surekli artiyorsa bir release yolu eksik demektir — teshis sinyali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Ekran salt-okunur bir gozlem yuzeyidir; registry'ye yazmaz. Tema: acik/flat (FctChannelRegistry.png gorseline gore).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KONFIGURASYON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Konfigurasyon — application.properties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66928" y="1655064"/>
          <a:ext cx="10917936" cy="3657600"/>
        </p:xfrm>
        <a:graphic>
          <a:graphicData uri="http://schemas.openxmlformats.org/drawingml/2006/table">
            <a:tbl>
              <a:tblPr firstRow="1"/>
              <a:tblGrid>
                <a:gridCol w="3566160"/>
                <a:gridCol w="1371600"/>
                <a:gridCol w="5980176"/>
              </a:tblGrid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Property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Varsayilan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Anlami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fct.channel.gate.enabled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true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KILL SWITCH. false -&gt; 04.05 FCT routing davranisi birebir geri gelir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fct.channel.ttl.ms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3.900.000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Rezervasyon TTL'i (CALL_EXPIRE_TIMEOUT + 5 dk). Kacan release'i temizler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fct.channel.stale.warn.ms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600.000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Bu suredir hareketsiz kayit monitor'de stale isaretlenir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fct.channel.cooldown.ms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60.000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cause 34 sonrasi numaranin dinlenme suresi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fct.channel.headroom.percent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Kapasitenin sayilmayan trafige ayrilan payi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fct.channel.defer.limit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Kapasite bekleyen cagrinin kuyrukta kac tick donebilecegi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fct.channel.list.retry.max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cause 34 sonrasi AYNI cagri icinde in-call retry sayisi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fct.channel.event.log.size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200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Monitor olay log'u kapasitesi (bounded)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fct.channel.snapshot.cache.ms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1.000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Snapshot endpoint cache suresi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Geri donus yolu TEK property: fct.channel.gate.enabled = false. Kapatildiginda list-retry siniri da uygulanmaz.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6600" b="1" i="0" dirty="0">
                <a:solidFill>
                  <a:srgbClr val="D4DEE8"/>
                </a:solidFill>
                <a:latin typeface="Segoe UI"/>
                <a:cs typeface="Segoe UI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31720" y="2606040"/>
            <a:ext cx="8595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3200" b="1" i="0" dirty="0">
                <a:solidFill>
                  <a:srgbClr val="1F2933"/>
                </a:solidFill>
                <a:latin typeface="Segoe UI"/>
                <a:cs typeface="Segoe UI"/>
              </a:rPr>
              <a:t>Test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77440" y="342900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00" b="0" i="0" dirty="0">
                <a:solidFill>
                  <a:srgbClr val="6B7A8F"/>
                </a:solidFill>
                <a:latin typeface="Segoe UI"/>
                <a:cs typeface="Segoe UI"/>
              </a:rPr>
              <a:t>10 kritik senaryo ve mevcut otomatik kapsam.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TEST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10 kritik test senaryosu (1-5)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66928" y="1655064"/>
          <a:ext cx="10917936" cy="2194560"/>
        </p:xfrm>
        <a:graphic>
          <a:graphicData uri="http://schemas.openxmlformats.org/drawingml/2006/table">
            <a:tbl>
              <a:tblPr firstRow="1"/>
              <a:tblGrid>
                <a:gridCol w="457200"/>
                <a:gridCol w="2926080"/>
                <a:gridCol w="4206240"/>
                <a:gridCol w="3328416"/>
              </a:tblGrid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#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Senaryo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Beklenen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Kapsam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Kapasite dolu -&gt; cagri yakilmaz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Originate atlanir, attempt geri alinir,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cagri kuyrugun basina doner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Otomatik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CallOriginatorFctGateTest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Es zamanlilik: son kanal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Iki thread ayni son kanali alamaz;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yalniz biri true doner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Otomatik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FctChannelRegistryConcurrencyTest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Headroom hesabi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capacity 10 -&gt; effective 9;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10. cagri REJECT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Otomatik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FctChannelRegistryTest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capacity &lt;= 0 / kill switch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Gate pasif, cagri normal gider,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registry YINE sayar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Otomatik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FctRoutingGateDisabled...Test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cause 34 -&gt; in-call retry yok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release + cooldown yapilir,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TRC 25 -&gt; standart retry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Otomatik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ManagerConnection...ListRetryCapTest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Tam set: docs/test-cases/FEAT-GLB90114534-FCT-KANAL-KAPASITE-GATE.md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TEST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10 kritik test senaryosu (6-10)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66928" y="1655064"/>
          <a:ext cx="10917936" cy="2194560"/>
        </p:xfrm>
        <a:graphic>
          <a:graphicData uri="http://schemas.openxmlformats.org/drawingml/2006/table">
            <a:tbl>
              <a:tblPr firstRow="1"/>
              <a:tblGrid>
                <a:gridCol w="457200"/>
                <a:gridCol w="2926080"/>
                <a:gridCol w="4206240"/>
                <a:gridCol w="3328416"/>
              </a:tblGrid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#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Senaryo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Beklenen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Kapsam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1B6AC9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Release butunlugu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Tum cikis yollarindan birakilir;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idempotent ve owner kontrollu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Otomatik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FctChannelGateTest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TTL self-healing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Kacan release prune edilir;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uzun konusma ERKEN prune EDILMEZ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Otomatik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FctChannelRegistryTest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Kampanya yasam dongusu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start/pause/reset registry'ye dokunmaz;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forceful stop supurur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Otomatik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FctChannelRegistryCampaignCleanupTest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QSS gecici hata vs kalici yokluk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Erisilemedi -&gt; retry ACIK;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bos liste -&gt; retry KAPALI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Otomatik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CallerIdManagerRouteDetailsTest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Suzme + fail-open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callType/attempt suzulur;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liste bosalirsa filtresiz devam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152" tIns="36576" rIns="73152" bIns="36576" anchor="ctr"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Otomatik</a:t>
                      </a:r>
                    </a:p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tr-T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RouteDetailsFilterTest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BD5DF"/>
                      </a:solidFill>
                    </a:lnL>
                    <a:lnR w="6350">
                      <a:solidFill>
                        <a:srgbClr val="CBD5DF"/>
                      </a:solidFill>
                    </a:lnR>
                    <a:lnT w="6350">
                      <a:solidFill>
                        <a:srgbClr val="CBD5DF"/>
                      </a:solidFill>
                    </a:lnT>
                    <a:lnB w="6350">
                      <a:solidFill>
                        <a:srgbClr val="CBD5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Ek kontroller (10'un disinda, manuel): fctRoutingEnabled kaydetme round-trip, Monitor ekrani TR/EN lokalizasyon, monitor yetki kontrolu.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KAPSAM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Mevcut otomatik kapsam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7" name="Shape 7"/>
          <p:cNvSpPr/>
          <p:nvPr/>
        </p:nvSpPr>
        <p:spPr>
          <a:xfrm>
            <a:off x="566928" y="1655064"/>
            <a:ext cx="2551176" cy="14173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768096" y="187452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lang="tr-TR" sz="2800" b="1" i="0" dirty="0">
                <a:solidFill>
                  <a:srgbClr val="0F9D8E"/>
                </a:solidFill>
                <a:latin typeface="Segoe UI"/>
                <a:cs typeface="Segoe UI"/>
              </a:rPr>
              <a:t>118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1520" y="2523744"/>
            <a:ext cx="2221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test / 0 failure / 0 error
FCT + regresyon birlesik set</a:t>
            </a:r>
          </a:p>
        </p:txBody>
      </p:sp>
      <p:sp>
        <p:nvSpPr>
          <p:cNvPr id="10" name="Shape 10"/>
          <p:cNvSpPr/>
          <p:nvPr/>
        </p:nvSpPr>
        <p:spPr>
          <a:xfrm>
            <a:off x="3355848" y="1655064"/>
            <a:ext cx="2551176" cy="14173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3557016" y="187452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lang="tr-TR" sz="2800" b="1" i="0" dirty="0">
                <a:solidFill>
                  <a:srgbClr val="0F9D8E"/>
                </a:solidFill>
                <a:latin typeface="Segoe UI"/>
                <a:cs typeface="Segoe UI"/>
              </a:rPr>
              <a:t>29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20440" y="2523744"/>
            <a:ext cx="2221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test
uc kalemin hedefli seti</a:t>
            </a:r>
          </a:p>
        </p:txBody>
      </p:sp>
      <p:sp>
        <p:nvSpPr>
          <p:cNvPr id="13" name="Shape 13"/>
          <p:cNvSpPr/>
          <p:nvPr/>
        </p:nvSpPr>
        <p:spPr>
          <a:xfrm>
            <a:off x="6144768" y="1655064"/>
            <a:ext cx="2551176" cy="14173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6345936" y="187452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lang="tr-TR" sz="2800" b="1" i="0" dirty="0">
                <a:solidFill>
                  <a:srgbClr val="B45309"/>
                </a:solidFill>
                <a:latin typeface="Segoe UI"/>
                <a:cs typeface="Segoe UI"/>
              </a:rPr>
              <a:t>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09360" y="2523744"/>
            <a:ext cx="2221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Karma spec
yazildi, node_modules blocker'i</a:t>
            </a:r>
          </a:p>
        </p:txBody>
      </p:sp>
      <p:sp>
        <p:nvSpPr>
          <p:cNvPr id="16" name="Shape 16"/>
          <p:cNvSpPr/>
          <p:nvPr/>
        </p:nvSpPr>
        <p:spPr>
          <a:xfrm>
            <a:off x="8933688" y="1655064"/>
            <a:ext cx="2551176" cy="1417320"/>
          </a:xfrm>
          <a:prstGeom prst="roundRect">
            <a:avLst/>
          </a:prstGeom>
          <a:solidFill>
            <a:srgbClr val="F4F6F8"/>
          </a:solidFill>
          <a:ln w="6350">
            <a:solidFill>
              <a:srgbClr val="CBD5DF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9134856" y="187452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lang="tr-TR" sz="2800" b="1" i="0" dirty="0">
                <a:solidFill>
                  <a:srgbClr val="0F9D8E"/>
                </a:solidFill>
                <a:latin typeface="Segoe UI"/>
                <a:cs typeface="Segoe UI"/>
              </a:rPr>
              <a:t>BUILD OK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98280" y="2523744"/>
            <a:ext cx="2221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tr-TR" sz="1100" b="0" i="0" dirty="0">
                <a:solidFill>
                  <a:srgbClr val="6B7A8F"/>
                </a:solidFill>
                <a:latin typeface="Segoe UI"/>
                <a:cs typeface="Segoe UI"/>
              </a:rPr>
              <a:t>mvn -o -DskipTests package
gbpowerdialer.war</a:t>
            </a:r>
          </a:p>
        </p:txBody>
      </p:sp>
      <p:sp>
        <p:nvSpPr>
          <p:cNvPr id="19" name="Shape 19"/>
          <p:cNvSpPr/>
          <p:nvPr/>
        </p:nvSpPr>
        <p:spPr>
          <a:xfrm>
            <a:off x="603504" y="3483864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0" name="TextBox 20"/>
          <p:cNvSpPr txBox="1"/>
          <p:nvPr/>
        </p:nvSpPr>
        <p:spPr>
          <a:xfrm>
            <a:off x="896112" y="3392424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450" b="1" i="0" dirty="0">
                <a:solidFill>
                  <a:srgbClr val="1F2933"/>
                </a:solidFill>
                <a:latin typeface="Segoe UI"/>
                <a:cs typeface="Segoe UI"/>
              </a:rPr>
              <a:t>Test sinifi envanteri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4128" y="3776472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0" i="0" dirty="0">
                <a:solidFill>
                  <a:srgbClr val="6B7A8F"/>
                </a:solidFill>
                <a:latin typeface="Segoe UI"/>
                <a:cs typeface="Segoe UI"/>
              </a:rPr>
              <a:t>– Registry: FctChannelRegistryTest (11) · Concurrency (1) · CampaignCleanup (4)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4128" y="4105656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0" i="0" dirty="0">
                <a:solidFill>
                  <a:srgbClr val="6B7A8F"/>
                </a:solidFill>
                <a:latin typeface="Segoe UI"/>
                <a:cs typeface="Segoe UI"/>
              </a:rPr>
              <a:t>– Gate ve akis: FctChannelGateTest (9) · CallOriginatorFctGateTest (3) · FctRoutingGateDisabledCharacterizationTest (3)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4128" y="4434840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0" i="0" dirty="0">
                <a:solidFill>
                  <a:srgbClr val="6B7A8F"/>
                </a:solidFill>
                <a:latin typeface="Segoe UI"/>
                <a:cs typeface="Segoe UI"/>
              </a:rPr>
              <a:t>– cause 34: ManagerConnectionDecoratorFctCause34CooldownTest (2) · FctListRetryCapTest (5)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4128" y="4764024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0" i="0" dirty="0">
                <a:solidFill>
                  <a:srgbClr val="6B7A8F"/>
                </a:solidFill>
                <a:latin typeface="Segoe UI"/>
                <a:cs typeface="Segoe UI"/>
              </a:rPr>
              <a:t>– Suzme/QSS: RouteDetailsFilterTest (12) · CallerIdManagerRouteDetailsTest (5)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4128" y="5093208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250" b="0" i="0" dirty="0">
                <a:solidFill>
                  <a:srgbClr val="6B7A8F"/>
                </a:solidFill>
                <a:latin typeface="Segoe UI"/>
                <a:cs typeface="Segoe UI"/>
              </a:rPr>
              <a:t>– Monitor/DTO: FctChannelMonitorControllerTest (5) · ContractTest (10) · CampaignFctRoutingFormMappingRegressionTest (5)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Tum Maven komutlari offline (-o) kosuldu. Karma icin gelistirici tarafinda npm install gerekiyor.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100" b="1" i="0" dirty="0">
                <a:solidFill>
                  <a:srgbClr val="0F9D8E"/>
                </a:solidFill>
                <a:latin typeface="Segoe UI"/>
                <a:cs typeface="Segoe UI"/>
              </a:rPr>
              <a:t>SONRAKI ADIMLAR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6858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2600" b="1" i="0" dirty="0">
                <a:solidFill>
                  <a:srgbClr val="1F2933"/>
                </a:solidFill>
                <a:latin typeface="Segoe UI"/>
                <a:cs typeface="Segoe UI"/>
              </a:rPr>
              <a:t>Devreye alma ve takip</a:t>
            </a:r>
          </a:p>
        </p:txBody>
      </p:sp>
      <p:sp>
        <p:nvSpPr>
          <p:cNvPr id="6" name="Shape 6"/>
          <p:cNvSpPr/>
          <p:nvPr/>
        </p:nvSpPr>
        <p:spPr>
          <a:xfrm>
            <a:off x="566928" y="1344168"/>
            <a:ext cx="1371600" cy="41148"/>
          </a:xfrm>
          <a:prstGeom prst="rect">
            <a:avLst/>
          </a:prstGeom>
          <a:solidFill>
            <a:srgbClr val="0F9D8E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7" name="Shape 7"/>
          <p:cNvSpPr/>
          <p:nvPr/>
        </p:nvSpPr>
        <p:spPr>
          <a:xfrm>
            <a:off x="603504" y="1746504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896112" y="1655064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Devreye alma sirasi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4128" y="2084832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1. gate.enabled = false ile deploy: registry sayar, akisa dokunmaz -&gt; gercek doluluk gozlemlenir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4128" y="2459736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2. Monitor'de capacity degerlerinin QSS ile tutarliligi dogrulanir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4128" y="2834640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3. gate.enabled = true: dolu FCT'ye originate kesilir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128" y="3209544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4. KPI'da pruned artisi izlenir; artiyorsa eksik bir release yolu var demektir</a:t>
            </a:r>
          </a:p>
        </p:txBody>
      </p:sp>
      <p:sp>
        <p:nvSpPr>
          <p:cNvPr id="13" name="Shape 13"/>
          <p:cNvSpPr/>
          <p:nvPr/>
        </p:nvSpPr>
        <p:spPr>
          <a:xfrm>
            <a:off x="603504" y="3675888"/>
            <a:ext cx="91440" cy="91440"/>
          </a:xfrm>
          <a:prstGeom prst="ellipse">
            <a:avLst/>
          </a:prstGeom>
          <a:solidFill>
            <a:srgbClr val="1B6AC9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896112" y="358444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550" b="1" i="0" dirty="0">
                <a:solidFill>
                  <a:srgbClr val="1F2933"/>
                </a:solidFill>
                <a:latin typeface="Segoe UI"/>
                <a:cs typeface="Segoe UI"/>
              </a:rPr>
              <a:t>Kapsam disi / takip edilecekler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4128" y="4014216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Kalem 1b — QSS RouteDetailsRequest context alanlari (gercek UNIQUE/SAME paritesi)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4128" y="4389120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TRC 25 raporlama artisinin PO ile paylasilmasi: dolu FCT'ye gitmeyen cagrilar artik TRC 25 yerine defer/retry olarak gorunur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4128" y="4764024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Prod loglarinda 'FCT routing list retry' satirinin varliginin teyidi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4128" y="5138928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r-TR" sz="1300" b="0" i="0" dirty="0">
                <a:solidFill>
                  <a:srgbClr val="1F2933"/>
                </a:solidFill>
                <a:latin typeface="Segoe UI"/>
                <a:cs typeface="Segoe UI"/>
              </a:rPr>
              <a:t>– Karma kosumu (npm install sonrasi 26 spec)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6928" y="6144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tr-TR" sz="1050" b="0" i="1" dirty="0">
                <a:solidFill>
                  <a:srgbClr val="6B7A8F"/>
                </a:solidFill>
                <a:latin typeface="Segoe UI"/>
                <a:cs typeface="Segoe UI"/>
              </a:rPr>
              <a:t>Riskli bir davranis gorulurse tek adim geri donus: fct.channel.gate.enabled = false.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BPD">
  <a:themeElements>
    <a:clrScheme name="GBPD">
      <a:dk1>
        <a:srgbClr val="1F2933"/>
      </a:dk1>
      <a:lt1>
        <a:srgbClr val="FFFFFF"/>
      </a:lt1>
      <a:dk2>
        <a:srgbClr val="132C4A"/>
      </a:dk2>
      <a:lt2>
        <a:srgbClr val="F4F6F8"/>
      </a:lt2>
      <a:accent1>
        <a:srgbClr val="1B6AC9"/>
      </a:accent1>
      <a:accent2>
        <a:srgbClr val="0F9D8E"/>
      </a:accent2>
      <a:accent3>
        <a:srgbClr val="B45309"/>
      </a:accent3>
      <a:accent4>
        <a:srgbClr val="B02A1F"/>
      </a:accent4>
      <a:accent5>
        <a:srgbClr val="6B7A8F"/>
      </a:accent5>
      <a:accent6>
        <a:srgbClr val="8FB8E6"/>
      </a:accent6>
      <a:hlink>
        <a:srgbClr val="1B6AC9"/>
      </a:hlink>
      <a:folHlink>
        <a:srgbClr val="6B7A8F"/>
      </a:folHlink>
    </a:clrScheme>
    <a:fontScheme name="GBPD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GBP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25</Slides>
  <Company>Global Bilgi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FCT Kanal Kapasite Gate</dc:title>
  <dc:creator>GLB90114534</dc:creator>
  <cp:lastModifiedBy>GLB90114534</cp:lastModifiedBy>
  <dcterms:created xsi:type="dcterms:W3CDTF">2026-09-09T09:00:00Z</dcterms:created>
  <dcterms:modified xsi:type="dcterms:W3CDTF">2026-09-09T09:00:00Z</dcterms:modified>
</cp:coreProperties>
</file>